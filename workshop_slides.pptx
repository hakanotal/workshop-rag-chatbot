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9" r:id="rId13"/>
    <p:sldId id="270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6928"/>
  </p:normalViewPr>
  <p:slideViewPr>
    <p:cSldViewPr snapToGrid="0" snapToObjects="1">
      <p:cViewPr>
        <p:scale>
          <a:sx n="198" d="100"/>
          <a:sy n="198" d="100"/>
        </p:scale>
        <p:origin x="144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595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"Welcome. In the next 75 minutes we're going to build a chatbot that actually knows things — and can prove it."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Introduce yourself briefly: Hakan, PhD student at UAlbany SUNY, Info Sciences &amp; Technology.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Workshop is fully hands-on. Everything runs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no install, no GPU required.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Goal: by the end, you'll have a working **Agentic RAG** chatbot running in your browser.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"Here's how the next hour is going to flow."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"Four beats: the problem, the fix, the upgrade, and then we build it."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**Problem:** LLMs hallucinate — and it matters in the real world.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**Fix:** RAG — Retrieve, Augment, Generate. The core pipeline.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**Upgrade:** Agentic RAG — multi-step reasoning + verification.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**Build:** we do it live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Mary Shelley's *Frankenstein*.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You can follow along or just watch — either is fine.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"Let's start with the problem — why do we even need RAG?"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"In 2023, a lawyer in New York used ChatGPT to write a legal brief. The brief cited six cases — every single one was fabricated. He was fined $5,000."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is *Mata v. Avianca*. Real case. Google it later.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Not a ChatGPT-specific bug — it's how every LLM works by default.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Key line: **LLMs predict plausible text, not true text.**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No internal notion of "evidence" or "source" — they just continue the pattern.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When training data doesn't have the answer, the model doesn't say "I don't know" — it invents something that *sounds* right.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is called **hallucination**. It's the #1 reason LLMs aren't trusted in production.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**Ask the room:** *"Who here has seen an LLM confidently give them a wrong answer?"* (hands will go up)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"So how do we fix it? Turns out there are three options, with very different cost profiles."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"You've got three dials to turn, and they don't cost the same."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**Prompt engineering ($)** — stuff facts directly into the prompt. Fast, cheap. Breaks when context grows. Good for a handful of facts, not a whole knowledge base.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**Fine-tuning ($$$)** — retrain the model on your data. Great for *style and tone*. Terrible for *facts that change* — you'd have to retrain every time your data updates.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**RAG ($$)** — retrieve relevant docs at query time, pass them in as context. **Factual. Updatable. Auditable.**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One-liner to remember: **RAG gives the model an open-book exam instead of making it memorize.**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"This next slide is the single most important one in the deck. If you take a photo of anything, take it of this."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"RAG is really two separate pipelines sharing one piece of infrastructure."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Walk the diagram left-to-right, top-to-bottom: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**Phase 1 — Indexing (top lane, blue).** Run **once**, offline.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**Documents** → break into **chunks** (~800 chars) → **embed** each chunk into a vector → store in **Vector DB**.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**Phase 2 — Query-time (bottom lane, amber).** Run **every single question**.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**Question** → embed with the **same model** → **similarity search** against the Vector DB → pull the **top-K chunks** back.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Stuff those chunks into an **Augmented Prompt** together with the original question and grounding instructions.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Send to the **LLM** → get a **grounded Answer**.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**Vector DB in the middle is the shared pivot** — indexing writes to it, querying reads from it.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embedding model is used *twice* — same model, both times. Critical.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**Callout:** "If you only remember one slide from today, remember this one. Every RAG paper, every RAG system, every framework — they're all variations on this diagram."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"Let's zoom into the weird part — what does it mean to 'embed' text?"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"An embedding is a way to convert *meaning* into *coordinates*."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Embedding model = takes text, spits out a vector (typically 384, 768, or 1536 dimensions).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**The trick:** similar meaning → similar vectors.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"Cat" and "kitten" land next to each other. "Cat" and "airplane" land far apart.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Similarity is measured by **cosine of the angle** between two vectors.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the diagram here — cats/kittens/dogs cluster in one region, cars/trucks/airplanes in another.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**Our choice:** `nomic-embed-text` (768-dim), runs locally via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"OK, embeddings sound magical. But the step *before* embedding is the one that silently kills most RAG systems."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"Bad chunks → bad retrieval → bad answers. Doesn't matter how smart your LLM is."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**Fixed-length:** split every N chars. Fast, dumb, breaks words mid-sentence.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**Sentence-based:** split at sentence boundaries. Better, but loses paragraph context.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**Recursive (our pick):** try paragraphs → sentences → words, with overlap. Balanced default.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**Semantic:** split where *meaning* shifts (embedding similarity drops). Best quality, slowest.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Two knobs matter: **chunk size** (we use 800 chars) and **overlap** (we use 100 chars, ~12%).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Overlap matters — it keeps context from getting sliced across boundaries.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"So that's Simple RAG: chunk, embed, retrieve, generate. Now let's make it smarter."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"Simple RAG is one shot. Agentic RAG gives the system a second opinion."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**Simple RAG:** Question → Retrieve → Generate → Answer. Fast. Single pass. Can still hallucinate if retrieval is noisy.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**Agentic RAG** — what we'll actually build today: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**Retriever Agent** searches the vector DB and drafts an answer.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**Verifier Agent** reads the draft and checks every claim against the retrieved context.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If something doesn't check out, it flags it or rewrites.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Tradeoff: **slower, but much more robust.** 2-3x the latency, far fewer hallucinations.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is the pattern in recent papers like Self-RAG and CRAG (corrective RAG).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"Here's the stack we're going to use to build all of this."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"Six tools. All open-source. All free. All runs 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Colab's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tier."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local LLM runtime (serves `llama3.2:3b`).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LangChain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RAG primitives: loaders, splitters, retrievers.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ChromaDB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lightweight vector database.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multi-agent orchestration (Retriever + Verifier).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 — chat UI in ~3 lines of code.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**Ragas** — evaluation metrics for RAG systems.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"Before we build — one slide on how we know the system is actually working."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"You can't just eyeball a RAG system. You need metrics, and you need defenses."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**Four core Ragas metrics:**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**Faithfulness** — is every claim in the answer supported by the retrieved context?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**Answer Relevancy** — does the answer actually address the question?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**Context Precision** — are the retrieved chunks useful?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**Context Recall** — did we retrieve everything we needed?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**Defense stack** (in order of ROI):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Strict grounding prompt ("answer only from context").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Explicit "I don't know" escape hatch.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Require citations / direct quotes.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Verifier agent (second LLM pass).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Guardrails: structured output, PII scrubbing.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**Rule of thumb:** prompting gets you 80%. The rest is verification, eval, and ops.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"OK — enough theory. Here's exactly what we're about to build, step by step."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"Eight numbered sections in the notebook. We'll work through them together."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Walk the grid quickly — don't dwell: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**§0 Setup**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deps.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**§1 Plain LLM chat** — show the hallucination live.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**§2 Chunk Frankenstein**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LangChain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recursive splitter.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**§3 Embed &amp; store** — Nomic embeddings 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ChromaDB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**§4 Simple RAG chain** — LCEL with strict grounding.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**§5 Agentic RAG** —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Retriever + Verifier.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chat UI** — public shareable link.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**§7 Head-to-head compare** — Plain vs Simple vs Agentic on the same questions.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**The finale:** the famous hallucination question — *"What is the monster's name?"* — and we watch the three systems handle it very differently.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**Transition:** "Open the workshop page and let's go."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**Hook:** "Three steps to get running."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Open **`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hakanotal.github.io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/workshop-rag-chatbot`** in your browser.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Click **"Open notebook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"**.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Colab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**Runtime → Run all**. Takes about 2-3 minutes to install everything.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While that's running, stretch. Grab water. We're building for the next hour.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**Handoff:** "Any questions before we dive in?"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65760"/>
            <a:ext cx="274320" cy="274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NTIR 2026 WORKSHOP  ·  HANDS-ON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a Chatbot with RAG from Scratch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Guide to Retrieval-Augmented Generation,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and Hallucination Prevention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097280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Hakan Tugrul Otal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Student · Dept. of Information Sciences &amp; Technology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at Albany, SUNY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presenter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92024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Student, Information Sciences &amp; Technology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LLMs, NLP, applied machine learning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at Albany, SUNY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80560" y="1600200"/>
            <a:ext cx="0" cy="29260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9385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57800" y="19019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hallucination problem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LLMs confidently make things 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26243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25877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the core pipeline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Augment → Generate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33101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548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57800" y="32735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+ verification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3995928"/>
            <a:ext cx="365760" cy="365760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0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39593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in Google Colab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end-to-end, live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end, you'll have a working agentic RAG chatbot in your browser.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LLMs hallucinate.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4114800" cy="292608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73152" cy="292608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WORLD EXAMPLE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New York lawyer used ChatGPT to draft a legal brief. It cited six court cases — all fabricated. The judge fined him $5,000."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v. Avianca, 2023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happen?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202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LLMs predict plausible text,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true text.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have no internal notion of evidence or citation.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training data doesn't contain the answer, the model doesn't say "I don't know" — it invents something that sounds right.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is one of the strongest, cheapest defenses.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ways to give an LLM new knowledge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74320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46304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Stuff facts into the prompt directly. Works for small contexts, breaks at scale.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600200"/>
            <a:ext cx="274320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4720" y="1828800"/>
            <a:ext cx="1463040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7472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7472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the model on your data. Great for style and tone, bad for facts that change.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600200"/>
            <a:ext cx="2743200" cy="30175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55080" y="1828800"/>
            <a:ext cx="1463040" cy="256032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TOPIC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5508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55080" y="31089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relevant docs at query time, pass them in as context. Factual, updatable, auditable.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= give the model an open-book exam instead of making it memorize.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RAG works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slide in this deck. You should be able to draw it from memory.</a:t>
            </a:r>
            <a:endParaRPr lang="en-US" sz="900" dirty="0"/>
          </a:p>
        </p:txBody>
      </p:sp>
      <p:pic>
        <p:nvPicPr>
          <p:cNvPr id="35" name="Picture 34" descr="rag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84124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00" b="1">
                <a:solidFill>
                  <a:srgbClr val="C9184A"/>
                </a:solidFill>
                <a:latin typeface="Calibri"/>
              </a:rPr>
              <a:t>06</a:t>
            </a:r>
            <a:r>
              <a:rPr sz="1000">
                <a:solidFill>
                  <a:srgbClr val="6B7280"/>
                </a:solidFill>
                <a:latin typeface="Calibri"/>
              </a:rPr>
              <a:t> /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 i="0">
                <a:solidFill>
                  <a:srgbClr val="1A1A2E"/>
                </a:solidFill>
                <a:latin typeface="Georgia"/>
              </a:rPr>
              <a:t>RAG in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C9184A"/>
                </a:solidFill>
                <a:latin typeface="Calibri"/>
              </a:rPr>
              <a:t>ONE QUESTION, STEP BY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83080"/>
            <a:ext cx="2011680" cy="29260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92807"/>
            <a:ext cx="457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 i="0">
                <a:solidFill>
                  <a:srgbClr val="C9184A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Calibri"/>
              </a:rPr>
              <a:t>Question arrives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C9184A"/>
                </a:solidFill>
                <a:latin typeface="Calibri"/>
              </a:rPr>
              <a:t>USER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39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1">
                <a:solidFill>
                  <a:srgbClr val="1A1A2E"/>
                </a:solidFill>
                <a:latin typeface="Calibri"/>
              </a:rPr>
              <a:t>"Does the monster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have a name?"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605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plain text from</a:t>
            </a:r>
          </a:p>
          <a:p>
            <a:r>
              <a:rPr sz="900" b="0" i="1">
                <a:solidFill>
                  <a:srgbClr val="6B7280"/>
                </a:solidFill>
                <a:latin typeface="Calibri"/>
              </a:rPr>
              <a:t>the user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82012" y="3191256"/>
            <a:ext cx="109728" cy="109728"/>
          </a:xfrm>
          <a:prstGeom prst="rightArrow">
            <a:avLst/>
          </a:prstGeom>
          <a:solidFill>
            <a:srgbClr val="C9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496312" y="1783080"/>
            <a:ext cx="2011680" cy="29260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33472" y="1892807"/>
            <a:ext cx="457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 i="0">
                <a:solidFill>
                  <a:srgbClr val="C9184A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Calibri"/>
              </a:rPr>
              <a:t>Embed the 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78892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C9184A"/>
                </a:solidFill>
                <a:latin typeface="Calibri"/>
              </a:rPr>
              <a:t>768-DIM 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3063239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1A1A2E"/>
                </a:solidFill>
                <a:latin typeface="Consolas"/>
              </a:rPr>
              <a:t>[ 0.08, -0.21,</a:t>
            </a:r>
          </a:p>
          <a:p>
            <a:r>
              <a:rPr sz="1100" b="0" i="0">
                <a:solidFill>
                  <a:srgbClr val="1A1A2E"/>
                </a:solidFill>
                <a:latin typeface="Consolas"/>
              </a:rPr>
              <a:t>  0.44, -0.03,</a:t>
            </a:r>
          </a:p>
          <a:p>
            <a:r>
              <a:rPr sz="1100" b="0" i="0">
                <a:solidFill>
                  <a:srgbClr val="1A1A2E"/>
                </a:solidFill>
                <a:latin typeface="Consolas"/>
              </a:rPr>
              <a:t>  0.17, ...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1605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same model as</a:t>
            </a:r>
          </a:p>
          <a:p>
            <a:r>
              <a:rPr sz="900" b="0" i="1">
                <a:solidFill>
                  <a:srgbClr val="6B7280"/>
                </a:solidFill>
                <a:latin typeface="Calibri"/>
              </a:rPr>
              <a:t>indexing phase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512564" y="3191256"/>
            <a:ext cx="109728" cy="109728"/>
          </a:xfrm>
          <a:prstGeom prst="rightArrow">
            <a:avLst/>
          </a:prstGeom>
          <a:solidFill>
            <a:srgbClr val="C9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626864" y="1783080"/>
            <a:ext cx="2011680" cy="29260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64024" y="1892807"/>
            <a:ext cx="457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 i="0">
                <a:solidFill>
                  <a:srgbClr val="C9184A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4024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Calibri"/>
              </a:rPr>
              <a:t>Retrieve top-K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4" y="278892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C9184A"/>
                </a:solidFill>
                <a:latin typeface="Calibri"/>
              </a:rPr>
              <a:t>TOP CHUNK (EXCERPT)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4024" y="3063239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1">
                <a:solidFill>
                  <a:srgbClr val="1A1A2E"/>
                </a:solidFill>
                <a:latin typeface="Calibri"/>
              </a:rPr>
              <a:t>"...I had selected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his features as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beautiful. Beautiful!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Great God!..."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4024" y="41605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cosine match</a:t>
            </a:r>
          </a:p>
          <a:p>
            <a:r>
              <a:rPr sz="900" b="0" i="1">
                <a:solidFill>
                  <a:srgbClr val="6B7280"/>
                </a:solidFill>
                <a:latin typeface="Calibri"/>
              </a:rPr>
              <a:t>from Vector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643116" y="3191256"/>
            <a:ext cx="109728" cy="109728"/>
          </a:xfrm>
          <a:prstGeom prst="rightArrow">
            <a:avLst/>
          </a:prstGeom>
          <a:solidFill>
            <a:srgbClr val="C91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757416" y="1783080"/>
            <a:ext cx="2011680" cy="292608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94576" y="1892807"/>
            <a:ext cx="457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 i="0">
                <a:solidFill>
                  <a:srgbClr val="C9184A"/>
                </a:solidFill>
                <a:latin typeface="Georg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6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5803D"/>
                </a:solidFill>
                <a:latin typeface="Calibri"/>
              </a:rPr>
              <a:t>Grounded 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278892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15803D"/>
                </a:solidFill>
                <a:latin typeface="Calibri"/>
              </a:rPr>
              <a:t>LLM 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063239"/>
            <a:ext cx="1737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1">
                <a:solidFill>
                  <a:srgbClr val="1A1A2E"/>
                </a:solidFill>
                <a:latin typeface="Calibri"/>
              </a:rPr>
              <a:t>"No. Shelley never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names him — he is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referred to as 'the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creature,' 'wretch,'</a:t>
            </a:r>
          </a:p>
          <a:p>
            <a:r>
              <a:rPr sz="1100" b="0" i="1">
                <a:solidFill>
                  <a:srgbClr val="1A1A2E"/>
                </a:solidFill>
                <a:latin typeface="Calibri"/>
              </a:rPr>
              <a:t>'daemon.'"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41605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cites the text,</a:t>
            </a:r>
          </a:p>
          <a:p>
            <a:r>
              <a:rPr sz="900" b="0" i="1">
                <a:solidFill>
                  <a:srgbClr val="6B7280"/>
                </a:solidFill>
                <a:latin typeface="Calibri"/>
              </a:rPr>
              <a:t>refuses to invent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The shape of every RAG call — regardless of framework, model, or corpus.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Embeddings: turning meaning into math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meaning →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vectors.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27889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embedding model maps text into a high-dimensional space (typically 384, 768, or 1536 dimensions).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"Cat" and "kitten" end up near each other. "Cat" and "airplane" end up far apart.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= cosine of the angle between vectors.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600200"/>
            <a:ext cx="3931920" cy="3017520"/>
          </a:xfrm>
          <a:prstGeom prst="rect">
            <a:avLst/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20640" y="4343400"/>
            <a:ext cx="338328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120640" y="1874520"/>
            <a:ext cx="0" cy="24688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77840" y="224028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15000" y="2194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246888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89320" y="2423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15000" y="2743200"/>
            <a:ext cx="109728" cy="109728"/>
          </a:xfrm>
          <a:prstGeom prst="ellipse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52160" y="2697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370332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818120" y="3657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63840" y="397764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01000" y="39319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98080" y="4160520"/>
            <a:ext cx="109728" cy="10972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35240" y="4114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space (simplified 2D projection)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workshop: we'll use nomic-embed-text (768-dim) via Ollama.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Chunking: where most RAG systems quietly die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73152" cy="50292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Fixed-length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N characters. Fast. Breaks sentences mid-word.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560320"/>
            <a:ext cx="73152" cy="50292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Sentence-based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16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at sentence boundaries. Better, but loses paragraph context.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73152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paragraphs → sentences → words, with overlap. Balanced default.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840480"/>
            <a:ext cx="73152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96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where meaning shifts (embedding similarity drops). Best quality, most compute.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600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KNOBS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760720" y="1920240"/>
            <a:ext cx="3017520" cy="118872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60720" y="19659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576072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· chunk size (our default)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3246120"/>
            <a:ext cx="3017520" cy="118872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60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5760720" y="4069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· overlap (~12%)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chunks → bad retrieval → bad answers, no matter how smart the LLM is.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simple RAG to Agentic RAG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verifier catches hallucinations the single-pass system misses. Slower, more robust.</a:t>
            </a:r>
            <a:endParaRPr lang="en-US" sz="900" dirty="0"/>
          </a:p>
        </p:txBody>
      </p:sp>
      <p:pic>
        <p:nvPicPr>
          <p:cNvPr id="30" name="Picture 29" descr="simple-vs-agen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84124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73152" cy="1417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Ollama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runtime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46120" y="1600200"/>
            <a:ext cx="73152" cy="1417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2044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044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primitives &amp; glue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26480" y="1600200"/>
            <a:ext cx="73152" cy="1417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ChromaDB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73152" cy="1417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CrewAI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46120" y="3154680"/>
            <a:ext cx="73152" cy="1417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2044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(3 lines of code)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0" y="3154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26480" y="3154680"/>
            <a:ext cx="73152" cy="1417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0" y="3383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Ragas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0080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open-source. Everything runs on a free Colab tier.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&amp; hallucination defenses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METRICS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every claim supported by the retrieved context?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920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5176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answer actually address the question?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retrieved chunks useful?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14600" y="3063240"/>
            <a:ext cx="2011680" cy="1005840"/>
          </a:xfrm>
          <a:prstGeom prst="rect">
            <a:avLst/>
          </a:prstGeom>
          <a:solidFill>
            <a:srgbClr val="F8F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5176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51760" y="3474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all we needed?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1600200"/>
            <a:ext cx="0" cy="29260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DEFENSES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196596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grounding prompt — "answer only from context"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don't know" escape hatch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citations / direct quotes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agent (second LLM pass)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structured output, PII scrubbing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gets you 80%. The rest is verification, eval, and ops.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00" b="1">
                <a:solidFill>
                  <a:srgbClr val="C9184A"/>
                </a:solidFill>
                <a:latin typeface="Calibri"/>
              </a:rPr>
              <a:t>12</a:t>
            </a:r>
            <a:r>
              <a:rPr sz="1000">
                <a:solidFill>
                  <a:srgbClr val="6B7280"/>
                </a:solidFill>
                <a:latin typeface="Calibri"/>
              </a:rPr>
              <a:t> /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 i="0">
                <a:solidFill>
                  <a:srgbClr val="1A1A2E"/>
                </a:solidFill>
                <a:latin typeface="Georgia"/>
              </a:rPr>
              <a:t>When RAG isn't 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C9184A"/>
                </a:solidFill>
                <a:latin typeface="Calibri"/>
              </a:rPr>
              <a:t>KNOW THE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8308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Multi-hop reasoning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1737360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 dirty="0">
                <a:solidFill>
                  <a:srgbClr val="6B7280"/>
                </a:solidFill>
                <a:latin typeface="Calibri"/>
              </a:rPr>
              <a:t>Questions that require chaining facts across many chunks. Top-K retrieval returns documents, not reasoning.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78308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874519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Aggregation &amp; counting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94560"/>
            <a:ext cx="1737360" cy="484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 dirty="0">
                <a:solidFill>
                  <a:srgbClr val="6B7280"/>
                </a:solidFill>
                <a:latin typeface="Calibri"/>
              </a:rPr>
              <a:t>"How many chapters mention X?" That's a database query, not a similarity search.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97180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06324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Fresh news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737360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 dirty="0">
                <a:solidFill>
                  <a:srgbClr val="6B7280"/>
                </a:solidFill>
                <a:latin typeface="Calibri"/>
              </a:rPr>
              <a:t>Your index is only as fresh as your last re-index. No amount of retrieval invents tomorrow's headlines.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97180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97480" y="306324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Tiny corpora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383280"/>
            <a:ext cx="1737360" cy="484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 dirty="0">
                <a:solidFill>
                  <a:srgbClr val="6B7280"/>
                </a:solidFill>
                <a:latin typeface="Calibri"/>
              </a:rPr>
              <a:t>If all your docs fit in the prompt, just stuff them in. RAG adds overhead with no benefit.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1600200"/>
            <a:ext cx="9144" cy="29260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16002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C9184A"/>
                </a:solidFill>
                <a:latin typeface="Calibri"/>
              </a:rPr>
              <a:t>REACH FOR 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01168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Calibri"/>
              </a:rPr>
              <a:t>Multi-hop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01168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6B7280"/>
                </a:solidFill>
                <a:latin typeface="Calibri"/>
              </a:rPr>
              <a:t>→ Query decomposition or agentic planners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42316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Calibri"/>
              </a:rPr>
              <a:t>Aggregation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42316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6B7280"/>
                </a:solidFill>
                <a:latin typeface="Calibri"/>
              </a:rPr>
              <a:t>→ Text-to-SQL or code interpreters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283464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Calibri"/>
              </a:rPr>
              <a:t>Fresh news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83464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6B7280"/>
                </a:solidFill>
                <a:latin typeface="Calibri"/>
              </a:rPr>
              <a:t>→ Web search tools + frequent re-indexing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2461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Calibri"/>
              </a:rPr>
              <a:t>Tiny corpora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6B7280"/>
                </a:solidFill>
                <a:latin typeface="Calibri"/>
              </a:rPr>
              <a:t>→ Just use a long-context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6576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Calibri"/>
              </a:rPr>
              <a:t>Exact recall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65760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6B7280"/>
                </a:solidFill>
                <a:latin typeface="Calibri"/>
              </a:rPr>
              <a:t>→ Keyword search (BM25) or hybrid retrieval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RAG is the right tool most of the time. It's not the only tool.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00" b="1">
                <a:solidFill>
                  <a:srgbClr val="C9184A"/>
                </a:solidFill>
                <a:latin typeface="Calibri"/>
              </a:rPr>
              <a:t>13</a:t>
            </a:r>
            <a:r>
              <a:rPr sz="1000">
                <a:solidFill>
                  <a:srgbClr val="6B7280"/>
                </a:solidFill>
                <a:latin typeface="Calibri"/>
              </a:rPr>
              <a:t> /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 i="0">
                <a:solidFill>
                  <a:srgbClr val="1A1A2E"/>
                </a:solidFill>
                <a:latin typeface="Georgia"/>
              </a:rPr>
              <a:t>RAG in the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C9184A"/>
                </a:solidFill>
                <a:latin typeface="Calibri"/>
              </a:rPr>
              <a:t>WHERE TEAMS ARE SHIPPING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83080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892807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Customer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1A1A2E"/>
                </a:solidFill>
                <a:latin typeface="Calibri"/>
              </a:rPr>
              <a:t>Product docs → chatbot that answers with citations and escalates only when it should.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Intercom · Zendesk AI · Notion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3260" y="1783080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60420" y="1892807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Internal 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0420" y="2194560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1A1A2E"/>
                </a:solidFill>
                <a:latin typeface="Calibri"/>
              </a:rPr>
              <a:t>Wiki, Confluence, Slack — a search that actually answers instead of linking 20 pages.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83464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Glean · Elastic · Copilot for M365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783080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892807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Developer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1A1A2E"/>
                </a:solidFill>
                <a:latin typeface="Calibri"/>
              </a:rPr>
              <a:t>Code and API docs that answer "how do I call this?" with the exact snippet and source file.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3464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Cursor · Sourcegraph Cody · GitHub Copilot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291839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401568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Research &amp; Legal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03320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1A1A2E"/>
                </a:solidFill>
                <a:latin typeface="Calibri"/>
              </a:rPr>
              <a:t>Papers, case law, regulations — answers with every claim traced back to a citation.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34340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Harvey · Elicit · Consensus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23260" y="3291839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60420" y="3401568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Healthcare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703320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1A1A2E"/>
                </a:solidFill>
                <a:latin typeface="Calibri"/>
              </a:rPr>
              <a:t>Clinical guidelines, drug interactions, internal protocols with mandatory provenance.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34340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Abridge · Hippocratic AI · Nuance DAX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91839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0" y="3401568"/>
            <a:ext cx="2423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C9184A"/>
                </a:solidFill>
                <a:latin typeface="Calibri"/>
              </a:rPr>
              <a:t>Personal Knowledge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03320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1A1A2E"/>
                </a:solidFill>
                <a:latin typeface="Calibri"/>
              </a:rPr>
              <a:t>Your notes, files, bookmarks as a second brain. Search across everything you've ever read.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34340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Mem · Obsidian · Reflect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1">
                <a:solidFill>
                  <a:srgbClr val="6B7280"/>
                </a:solidFill>
                <a:latin typeface="Calibri"/>
              </a:rPr>
              <a:t>Anywhere grounded, cited answers beat confident guesses — which is most places.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build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on Colab + deps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974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69748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LLM chat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hallucination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89204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Frankenstein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+ recursive splitter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8660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08660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&amp; store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866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+ ChromaDB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50292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RAG chain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with strict grounding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9748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269748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9748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CrewAI: Retriever + Verifier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9204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489204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chat UI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Public-shareable link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49440" y="3154680"/>
            <a:ext cx="2103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8660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C918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200" dirty="0"/>
          </a:p>
        </p:txBody>
      </p:sp>
      <p:sp>
        <p:nvSpPr>
          <p:cNvPr id="34" name="Text 32"/>
          <p:cNvSpPr/>
          <p:nvPr/>
        </p:nvSpPr>
        <p:spPr>
          <a:xfrm>
            <a:off x="70866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compare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866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vs Simple vs Agentic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finale: we compare all three approaches head-to-head on real questions.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274320" cy="274320"/>
          </a:xfrm>
          <a:prstGeom prst="rect">
            <a:avLst/>
          </a:prstGeom>
          <a:solidFill>
            <a:srgbClr val="C9184A"/>
          </a:solidFill>
          <a:ln w="12700">
            <a:solidFill>
              <a:srgbClr val="C918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hakanotal.github.io/workshop-rag-chatbot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611880"/>
            <a:ext cx="1097280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the workshop page in your browser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</a:t>
            </a:r>
            <a:r>
              <a:rPr lang="en-US" sz="14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notebook in Colab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Runtime → Run all  (takes ~2-3 min)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4685</TotalTime>
  <Words>3178</Words>
  <Application>Microsoft Macintosh PowerPoint</Application>
  <PresentationFormat>On-screen Show (16:9)</PresentationFormat>
  <Paragraphs>406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Chatbot with RAG from Scratch</dc:title>
  <dc:subject>PptxGenJS Presentation</dc:subject>
  <dc:creator>Hakan Tugrul Otal</dc:creator>
  <cp:lastModifiedBy>Otal, Hakan T</cp:lastModifiedBy>
  <cp:revision>3</cp:revision>
  <dcterms:created xsi:type="dcterms:W3CDTF">2026-04-19T19:31:45Z</dcterms:created>
  <dcterms:modified xsi:type="dcterms:W3CDTF">2026-04-27T13:46:07Z</dcterms:modified>
</cp:coreProperties>
</file>